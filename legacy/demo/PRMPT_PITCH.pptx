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ight-logo-png.png"/>
          <p:cNvPicPr>
            <a:picLocks noChangeAspect="1"/>
          </p:cNvPicPr>
          <p:nvPr/>
        </p:nvPicPr>
        <p:blipFill>
          <a:blip r:embed="rId2"/>
          <a:stretch>
            <a:fillRect/>
          </a:stretch>
        </p:blipFill>
        <p:spPr>
          <a:xfrm>
            <a:off x="9875520" y="320040"/>
            <a:ext cx="1338978" cy="1280160"/>
          </a:xfrm>
          <a:prstGeom prst="rect">
            <a:avLst/>
          </a:prstGeom>
        </p:spPr>
      </p:pic>
      <p:sp>
        <p:nvSpPr>
          <p:cNvPr id="4" name="TextBox 3"/>
          <p:cNvSpPr txBox="1"/>
          <p:nvPr/>
        </p:nvSpPr>
        <p:spPr>
          <a:xfrm>
            <a:off x="731520" y="1645920"/>
            <a:ext cx="8229600" cy="1463040"/>
          </a:xfrm>
          <a:prstGeom prst="rect">
            <a:avLst/>
          </a:prstGeom>
          <a:noFill/>
        </p:spPr>
        <p:txBody>
          <a:bodyPr wrap="square">
            <a:spAutoFit/>
          </a:bodyPr>
          <a:lstStyle/>
          <a:p>
            <a:pPr algn="l"/>
            <a:r>
              <a:rPr sz="7200" b="1">
                <a:solidFill>
                  <a:srgbClr val="FFFFFF"/>
                </a:solidFill>
                <a:latin typeface="Calibri"/>
              </a:rPr>
              <a:t>PRMPT</a:t>
            </a:r>
          </a:p>
        </p:txBody>
      </p:sp>
      <p:sp>
        <p:nvSpPr>
          <p:cNvPr id="5" name="TextBox 4"/>
          <p:cNvSpPr txBox="1"/>
          <p:nvPr/>
        </p:nvSpPr>
        <p:spPr>
          <a:xfrm>
            <a:off x="731520" y="3017520"/>
            <a:ext cx="9144000" cy="548640"/>
          </a:xfrm>
          <a:prstGeom prst="rect">
            <a:avLst/>
          </a:prstGeom>
          <a:noFill/>
        </p:spPr>
        <p:txBody>
          <a:bodyPr wrap="square">
            <a:spAutoFit/>
          </a:bodyPr>
          <a:lstStyle/>
          <a:p>
            <a:pPr algn="l"/>
            <a:r>
              <a:rPr sz="2200" b="0">
                <a:solidFill>
                  <a:srgbClr val="9CA3AF"/>
                </a:solidFill>
                <a:latin typeface="Calibri"/>
              </a:rPr>
              <a:t>Prompt optimization layer for AI coding agents.</a:t>
            </a:r>
          </a:p>
        </p:txBody>
      </p:sp>
      <p:sp>
        <p:nvSpPr>
          <p:cNvPr id="6" name="TextBox 5"/>
          <p:cNvSpPr txBox="1"/>
          <p:nvPr/>
        </p:nvSpPr>
        <p:spPr>
          <a:xfrm>
            <a:off x="731520" y="3611880"/>
            <a:ext cx="9144000" cy="457200"/>
          </a:xfrm>
          <a:prstGeom prst="rect">
            <a:avLst/>
          </a:prstGeom>
          <a:noFill/>
        </p:spPr>
        <p:txBody>
          <a:bodyPr wrap="square">
            <a:spAutoFit/>
          </a:bodyPr>
          <a:lstStyle/>
          <a:p>
            <a:pPr algn="l"/>
            <a:r>
              <a:rPr sz="1700" b="0">
                <a:solidFill>
                  <a:srgbClr val="9CA3AF"/>
                </a:solidFill>
                <a:latin typeface="Calibri"/>
              </a:rPr>
              <a:t>Fewer tokens. Same results. Proven on real bug-fix tasks.</a:t>
            </a:r>
          </a:p>
        </p:txBody>
      </p:sp>
      <p:sp>
        <p:nvSpPr>
          <p:cNvPr id="7" name="Rectangle 6"/>
          <p:cNvSpPr/>
          <p:nvPr/>
        </p:nvSpPr>
        <p:spPr>
          <a:xfrm>
            <a:off x="0" y="6446520"/>
            <a:ext cx="12188952" cy="4114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9144000" cy="320040"/>
          </a:xfrm>
          <a:prstGeom prst="rect">
            <a:avLst/>
          </a:prstGeom>
          <a:noFill/>
        </p:spPr>
        <p:txBody>
          <a:bodyPr wrap="square">
            <a:spAutoFit/>
          </a:bodyPr>
          <a:lstStyle/>
          <a:p>
            <a:pPr algn="l"/>
            <a:r>
              <a:rPr sz="1100" b="0">
                <a:solidFill>
                  <a:srgbClr val="9CA3AF"/>
                </a:solidFill>
                <a:latin typeface="Calibri"/>
              </a:rPr>
              <a:t>commandcode.ai  ·  mcp  ·  codex  ·  claude code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r>
              <a:rPr sz="3600" b="1">
                <a:solidFill>
                  <a:srgbClr val="FFFFFF"/>
                </a:solidFill>
                <a:latin typeface="Calibri"/>
              </a:rPr>
              <a:t>The Problem</a:t>
            </a:r>
          </a:p>
        </p:txBody>
      </p:sp>
      <p:sp>
        <p:nvSpPr>
          <p:cNvPr id="4" name="Rectangle 3"/>
          <p:cNvSpPr/>
          <p:nvPr/>
        </p:nvSpPr>
        <p:spPr>
          <a:xfrm>
            <a:off x="548640" y="1005840"/>
            <a:ext cx="11064240" cy="12700"/>
          </a:xfrm>
          <a:prstGeom prst="rect">
            <a:avLst/>
          </a:prstGeom>
          <a:solidFill>
            <a:srgbClr val="2D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0515600" cy="3200400"/>
          </a:xfrm>
          <a:prstGeom prst="rect">
            <a:avLst/>
          </a:prstGeom>
          <a:noFill/>
        </p:spPr>
        <p:txBody>
          <a:bodyPr wrap="square">
            <a:spAutoFit/>
          </a:bodyPr>
          <a:lstStyle/>
          <a:p>
            <a:pPr algn="l">
              <a:spcAft>
                <a:spcPts val="400"/>
              </a:spcAft>
            </a:pPr>
            <a:r>
              <a:rPr sz="1900" b="0">
                <a:solidFill>
                  <a:srgbClr val="FFFFFF"/>
                </a:solidFill>
                <a:latin typeface="Calibri"/>
              </a:rPr>
              <a:t>Every turn in an AI coding session re-sends the full conversation history to the model.</a:t>
            </a:r>
          </a:p>
          <a:p>
            <a:pPr algn="l">
              <a:spcAft>
                <a:spcPts val="400"/>
              </a:spcAft>
            </a:pPr>
            <a:r>
              <a:rPr sz="800" b="0">
                <a:solidFill>
                  <a:srgbClr val="FFFFFF"/>
                </a:solidFill>
                <a:latin typeface="Calibri"/>
              </a:rPr>
              <a:t/>
            </a:r>
          </a:p>
          <a:p>
            <a:pPr algn="l">
              <a:spcAft>
                <a:spcPts val="400"/>
              </a:spcAft>
            </a:pPr>
            <a:r>
              <a:rPr sz="1900" b="1">
                <a:solidFill>
                  <a:srgbClr val="FBBF24"/>
                </a:solidFill>
                <a:latin typeface="Calibri"/>
              </a:rPr>
              <a:t>Context replay is the dominant cost driver — not the task itself.</a:t>
            </a:r>
          </a:p>
          <a:p>
            <a:pPr algn="l">
              <a:spcAft>
                <a:spcPts val="400"/>
              </a:spcAft>
            </a:pPr>
            <a:r>
              <a:rPr sz="800" b="0">
                <a:solidFill>
                  <a:srgbClr val="FFFFFF"/>
                </a:solidFill>
                <a:latin typeface="Calibri"/>
              </a:rPr>
              <a:t/>
            </a:r>
          </a:p>
          <a:p>
            <a:pPr algn="l">
              <a:spcAft>
                <a:spcPts val="400"/>
              </a:spcAft>
            </a:pPr>
            <a:r>
              <a:rPr sz="1700" b="0">
                <a:solidFill>
                  <a:srgbClr val="9CA3AF"/>
                </a:solidFill>
                <a:latin typeface="Calibri"/>
              </a:rPr>
              <a:t>The larger the repo, the worse it gets. Plan mode? 400K tokens per run.</a:t>
            </a:r>
          </a:p>
          <a:p>
            <a:pPr algn="l">
              <a:spcAft>
                <a:spcPts val="400"/>
              </a:spcAft>
            </a:pPr>
            <a:r>
              <a:rPr sz="800" b="0">
                <a:solidFill>
                  <a:srgbClr val="FFFFFF"/>
                </a:solidFill>
                <a:latin typeface="Calibri"/>
              </a:rPr>
              <a:t/>
            </a:r>
          </a:p>
          <a:p>
            <a:pPr algn="l">
              <a:spcAft>
                <a:spcPts val="400"/>
              </a:spcAft>
            </a:pPr>
            <a:r>
              <a:rPr sz="1700" b="0">
                <a:solidFill>
                  <a:srgbClr val="9CA3AF"/>
                </a:solidFill>
                <a:latin typeface="Calibri"/>
              </a:rPr>
              <a:t>Developers don't see it. The bill arrives anyway.</a:t>
            </a:r>
          </a:p>
        </p:txBody>
      </p:sp>
      <p:sp>
        <p:nvSpPr>
          <p:cNvPr id="6" name="Rectangle 5"/>
          <p:cNvSpPr/>
          <p:nvPr/>
        </p:nvSpPr>
        <p:spPr>
          <a:xfrm>
            <a:off x="731520" y="4389120"/>
            <a:ext cx="5029200" cy="16916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526280"/>
            <a:ext cx="4572000" cy="365760"/>
          </a:xfrm>
          <a:prstGeom prst="rect">
            <a:avLst/>
          </a:prstGeom>
          <a:noFill/>
        </p:spPr>
        <p:txBody>
          <a:bodyPr wrap="square">
            <a:spAutoFit/>
          </a:bodyPr>
          <a:lstStyle/>
          <a:p>
            <a:pPr algn="l"/>
            <a:r>
              <a:rPr sz="1200" b="0">
                <a:solidFill>
                  <a:srgbClr val="9CA3AF"/>
                </a:solidFill>
                <a:latin typeface="Calibri"/>
              </a:rPr>
              <a:t>Codex raw context on atlas-p3</a:t>
            </a:r>
          </a:p>
        </p:txBody>
      </p:sp>
      <p:sp>
        <p:nvSpPr>
          <p:cNvPr id="8" name="TextBox 7"/>
          <p:cNvSpPr txBox="1"/>
          <p:nvPr/>
        </p:nvSpPr>
        <p:spPr>
          <a:xfrm>
            <a:off x="914400" y="4846320"/>
            <a:ext cx="4572000" cy="640080"/>
          </a:xfrm>
          <a:prstGeom prst="rect">
            <a:avLst/>
          </a:prstGeom>
          <a:noFill/>
        </p:spPr>
        <p:txBody>
          <a:bodyPr wrap="square">
            <a:spAutoFit/>
          </a:bodyPr>
          <a:lstStyle/>
          <a:p>
            <a:pPr algn="l"/>
            <a:r>
              <a:rPr sz="3000" b="1">
                <a:solidFill>
                  <a:srgbClr val="EF4444"/>
                </a:solidFill>
                <a:latin typeface="Calibri"/>
              </a:rPr>
              <a:t>303,293 tokens</a:t>
            </a:r>
          </a:p>
        </p:txBody>
      </p:sp>
      <p:sp>
        <p:nvSpPr>
          <p:cNvPr id="9" name="Rectangle 8"/>
          <p:cNvSpPr/>
          <p:nvPr/>
        </p:nvSpPr>
        <p:spPr>
          <a:xfrm>
            <a:off x="6309360" y="4389120"/>
            <a:ext cx="5029200" cy="16916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4526280"/>
            <a:ext cx="4572000" cy="365760"/>
          </a:xfrm>
          <a:prstGeom prst="rect">
            <a:avLst/>
          </a:prstGeom>
          <a:noFill/>
        </p:spPr>
        <p:txBody>
          <a:bodyPr wrap="square">
            <a:spAutoFit/>
          </a:bodyPr>
          <a:lstStyle/>
          <a:p>
            <a:pPr algn="l"/>
            <a:r>
              <a:rPr sz="1200" b="0">
                <a:solidFill>
                  <a:srgbClr val="9CA3AF"/>
                </a:solidFill>
                <a:latin typeface="Calibri"/>
              </a:rPr>
              <a:t>With PRMPT MCP (same task, passes tests)</a:t>
            </a:r>
          </a:p>
        </p:txBody>
      </p:sp>
      <p:sp>
        <p:nvSpPr>
          <p:cNvPr id="11" name="TextBox 10"/>
          <p:cNvSpPr txBox="1"/>
          <p:nvPr/>
        </p:nvSpPr>
        <p:spPr>
          <a:xfrm>
            <a:off x="6492240" y="4846320"/>
            <a:ext cx="4572000" cy="640080"/>
          </a:xfrm>
          <a:prstGeom prst="rect">
            <a:avLst/>
          </a:prstGeom>
          <a:noFill/>
        </p:spPr>
        <p:txBody>
          <a:bodyPr wrap="square">
            <a:spAutoFit/>
          </a:bodyPr>
          <a:lstStyle/>
          <a:p>
            <a:pPr algn="l"/>
            <a:r>
              <a:rPr sz="3000" b="1">
                <a:solidFill>
                  <a:srgbClr val="10B981"/>
                </a:solidFill>
                <a:latin typeface="Calibri"/>
              </a:rPr>
              <a:t>105,463 tokens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r>
              <a:rPr sz="3600" b="1">
                <a:solidFill>
                  <a:srgbClr val="FFFFFF"/>
                </a:solidFill>
                <a:latin typeface="Calibri"/>
              </a:rPr>
              <a:t>How PRMPT Works</a:t>
            </a:r>
          </a:p>
        </p:txBody>
      </p:sp>
      <p:sp>
        <p:nvSpPr>
          <p:cNvPr id="4" name="Rectangle 3"/>
          <p:cNvSpPr/>
          <p:nvPr/>
        </p:nvSpPr>
        <p:spPr>
          <a:xfrm>
            <a:off x="548640" y="1005840"/>
            <a:ext cx="11064240" cy="12700"/>
          </a:xfrm>
          <a:prstGeom prst="rect">
            <a:avLst/>
          </a:prstGeom>
          <a:solidFill>
            <a:srgbClr val="2D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325880"/>
            <a:ext cx="3291840" cy="3474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325880"/>
            <a:ext cx="329184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435608"/>
            <a:ext cx="457200" cy="502920"/>
          </a:xfrm>
          <a:prstGeom prst="rect">
            <a:avLst/>
          </a:prstGeom>
          <a:noFill/>
        </p:spPr>
        <p:txBody>
          <a:bodyPr wrap="square">
            <a:spAutoFit/>
          </a:bodyPr>
          <a:lstStyle/>
          <a:p>
            <a:pPr algn="l"/>
            <a:r>
              <a:rPr sz="2800" b="1">
                <a:solidFill>
                  <a:srgbClr val="7C3AED"/>
                </a:solidFill>
                <a:latin typeface="Calibri"/>
              </a:rPr>
              <a:t>1</a:t>
            </a:r>
          </a:p>
        </p:txBody>
      </p:sp>
      <p:sp>
        <p:nvSpPr>
          <p:cNvPr id="8" name="TextBox 7"/>
          <p:cNvSpPr txBox="1"/>
          <p:nvPr/>
        </p:nvSpPr>
        <p:spPr>
          <a:xfrm>
            <a:off x="758952" y="1965960"/>
            <a:ext cx="3017520" cy="502920"/>
          </a:xfrm>
          <a:prstGeom prst="rect">
            <a:avLst/>
          </a:prstGeom>
          <a:noFill/>
        </p:spPr>
        <p:txBody>
          <a:bodyPr wrap="square">
            <a:spAutoFit/>
          </a:bodyPr>
          <a:lstStyle/>
          <a:p>
            <a:pPr algn="l"/>
            <a:r>
              <a:rPr sz="2200" b="1">
                <a:solidFill>
                  <a:srgbClr val="FFFFFF"/>
                </a:solidFill>
                <a:latin typeface="Calibri"/>
              </a:rPr>
              <a:t>Index</a:t>
            </a:r>
          </a:p>
        </p:txBody>
      </p:sp>
      <p:sp>
        <p:nvSpPr>
          <p:cNvPr id="9" name="TextBox 8"/>
          <p:cNvSpPr txBox="1"/>
          <p:nvPr/>
        </p:nvSpPr>
        <p:spPr>
          <a:xfrm>
            <a:off x="758952" y="2560320"/>
            <a:ext cx="3017520" cy="2011680"/>
          </a:xfrm>
          <a:prstGeom prst="rect">
            <a:avLst/>
          </a:prstGeom>
          <a:noFill/>
        </p:spPr>
        <p:txBody>
          <a:bodyPr wrap="square">
            <a:spAutoFit/>
          </a:bodyPr>
          <a:lstStyle/>
          <a:p>
            <a:pPr algn="l"/>
            <a:r>
              <a:rPr sz="1300" b="0">
                <a:solidFill>
                  <a:srgbClr val="9CA3AF"/>
                </a:solidFill>
                <a:latin typeface="Calibri"/>
              </a:rPr>
              <a:t>Tree-sitter parses the repo locally. BGE embeddings + call graph
store file relationships. Runs once per repo.</a:t>
            </a:r>
          </a:p>
        </p:txBody>
      </p:sp>
      <p:sp>
        <p:nvSpPr>
          <p:cNvPr id="10" name="TextBox 9"/>
          <p:cNvSpPr txBox="1"/>
          <p:nvPr/>
        </p:nvSpPr>
        <p:spPr>
          <a:xfrm>
            <a:off x="3922776" y="2862072"/>
            <a:ext cx="320040" cy="457200"/>
          </a:xfrm>
          <a:prstGeom prst="rect">
            <a:avLst/>
          </a:prstGeom>
          <a:noFill/>
        </p:spPr>
        <p:txBody>
          <a:bodyPr wrap="square">
            <a:spAutoFit/>
          </a:bodyPr>
          <a:lstStyle/>
          <a:p>
            <a:pPr algn="ctr"/>
            <a:r>
              <a:rPr sz="2200" b="1">
                <a:solidFill>
                  <a:srgbClr val="7C3AED"/>
                </a:solidFill>
                <a:latin typeface="Calibri"/>
              </a:rPr>
              <a:t>→</a:t>
            </a:r>
          </a:p>
        </p:txBody>
      </p:sp>
      <p:sp>
        <p:nvSpPr>
          <p:cNvPr id="11" name="Rectangle 10"/>
          <p:cNvSpPr/>
          <p:nvPr/>
        </p:nvSpPr>
        <p:spPr>
          <a:xfrm>
            <a:off x="4206240" y="1325880"/>
            <a:ext cx="3291840" cy="3474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1325880"/>
            <a:ext cx="329184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0832" y="1435608"/>
            <a:ext cx="457200" cy="502920"/>
          </a:xfrm>
          <a:prstGeom prst="rect">
            <a:avLst/>
          </a:prstGeom>
          <a:noFill/>
        </p:spPr>
        <p:txBody>
          <a:bodyPr wrap="square">
            <a:spAutoFit/>
          </a:bodyPr>
          <a:lstStyle/>
          <a:p>
            <a:pPr algn="l"/>
            <a:r>
              <a:rPr sz="2800" b="1">
                <a:solidFill>
                  <a:srgbClr val="7C3AED"/>
                </a:solidFill>
                <a:latin typeface="Calibri"/>
              </a:rPr>
              <a:t>2</a:t>
            </a:r>
          </a:p>
        </p:txBody>
      </p:sp>
      <p:sp>
        <p:nvSpPr>
          <p:cNvPr id="14" name="TextBox 13"/>
          <p:cNvSpPr txBox="1"/>
          <p:nvPr/>
        </p:nvSpPr>
        <p:spPr>
          <a:xfrm>
            <a:off x="4370832" y="1965960"/>
            <a:ext cx="3017520" cy="502920"/>
          </a:xfrm>
          <a:prstGeom prst="rect">
            <a:avLst/>
          </a:prstGeom>
          <a:noFill/>
        </p:spPr>
        <p:txBody>
          <a:bodyPr wrap="square">
            <a:spAutoFit/>
          </a:bodyPr>
          <a:lstStyle/>
          <a:p>
            <a:pPr algn="l"/>
            <a:r>
              <a:rPr sz="2200" b="1">
                <a:solidFill>
                  <a:srgbClr val="FFFFFF"/>
                </a:solidFill>
                <a:latin typeface="Calibri"/>
              </a:rPr>
              <a:t>Optimize</a:t>
            </a:r>
          </a:p>
        </p:txBody>
      </p:sp>
      <p:sp>
        <p:nvSpPr>
          <p:cNvPr id="15" name="TextBox 14"/>
          <p:cNvSpPr txBox="1"/>
          <p:nvPr/>
        </p:nvSpPr>
        <p:spPr>
          <a:xfrm>
            <a:off x="4370832" y="2560320"/>
            <a:ext cx="3017520" cy="2011680"/>
          </a:xfrm>
          <a:prstGeom prst="rect">
            <a:avLst/>
          </a:prstGeom>
          <a:noFill/>
        </p:spPr>
        <p:txBody>
          <a:bodyPr wrap="square">
            <a:spAutoFit/>
          </a:bodyPr>
          <a:lstStyle/>
          <a:p>
            <a:pPr algn="l"/>
            <a:r>
              <a:rPr sz="1300" b="0">
                <a:solidFill>
                  <a:srgbClr val="9CA3AF"/>
                </a:solidFill>
                <a:latin typeface="Calibri"/>
              </a:rPr>
              <a:t>Vague prompt goes in. The pipeline adds probable file locations,
intent clarification, and task structure. No raw prompt hits the LLM.</a:t>
            </a:r>
          </a:p>
        </p:txBody>
      </p:sp>
      <p:sp>
        <p:nvSpPr>
          <p:cNvPr id="16" name="TextBox 15"/>
          <p:cNvSpPr txBox="1"/>
          <p:nvPr/>
        </p:nvSpPr>
        <p:spPr>
          <a:xfrm>
            <a:off x="7534656" y="2862072"/>
            <a:ext cx="320040" cy="457200"/>
          </a:xfrm>
          <a:prstGeom prst="rect">
            <a:avLst/>
          </a:prstGeom>
          <a:noFill/>
        </p:spPr>
        <p:txBody>
          <a:bodyPr wrap="square">
            <a:spAutoFit/>
          </a:bodyPr>
          <a:lstStyle/>
          <a:p>
            <a:pPr algn="ctr"/>
            <a:r>
              <a:rPr sz="2200" b="1">
                <a:solidFill>
                  <a:srgbClr val="7C3AED"/>
                </a:solidFill>
                <a:latin typeface="Calibri"/>
              </a:rPr>
              <a:t>→</a:t>
            </a:r>
          </a:p>
        </p:txBody>
      </p:sp>
      <p:sp>
        <p:nvSpPr>
          <p:cNvPr id="17" name="Rectangle 16"/>
          <p:cNvSpPr/>
          <p:nvPr/>
        </p:nvSpPr>
        <p:spPr>
          <a:xfrm>
            <a:off x="7818120" y="1325880"/>
            <a:ext cx="3291840" cy="3474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818120" y="1325880"/>
            <a:ext cx="329184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1435608"/>
            <a:ext cx="457200" cy="502920"/>
          </a:xfrm>
          <a:prstGeom prst="rect">
            <a:avLst/>
          </a:prstGeom>
          <a:noFill/>
        </p:spPr>
        <p:txBody>
          <a:bodyPr wrap="square">
            <a:spAutoFit/>
          </a:bodyPr>
          <a:lstStyle/>
          <a:p>
            <a:pPr algn="l"/>
            <a:r>
              <a:rPr sz="2800" b="1">
                <a:solidFill>
                  <a:srgbClr val="7C3AED"/>
                </a:solidFill>
                <a:latin typeface="Calibri"/>
              </a:rPr>
              <a:t>3</a:t>
            </a:r>
          </a:p>
        </p:txBody>
      </p:sp>
      <p:sp>
        <p:nvSpPr>
          <p:cNvPr id="20" name="TextBox 19"/>
          <p:cNvSpPr txBox="1"/>
          <p:nvPr/>
        </p:nvSpPr>
        <p:spPr>
          <a:xfrm>
            <a:off x="7982712" y="1965960"/>
            <a:ext cx="3017520" cy="502920"/>
          </a:xfrm>
          <a:prstGeom prst="rect">
            <a:avLst/>
          </a:prstGeom>
          <a:noFill/>
        </p:spPr>
        <p:txBody>
          <a:bodyPr wrap="square">
            <a:spAutoFit/>
          </a:bodyPr>
          <a:lstStyle/>
          <a:p>
            <a:pPr algn="l"/>
            <a:r>
              <a:rPr sz="2200" b="1">
                <a:solidFill>
                  <a:srgbClr val="FFFFFF"/>
                </a:solidFill>
                <a:latin typeface="Calibri"/>
              </a:rPr>
              <a:t>Serve</a:t>
            </a:r>
          </a:p>
        </p:txBody>
      </p:sp>
      <p:sp>
        <p:nvSpPr>
          <p:cNvPr id="21" name="TextBox 20"/>
          <p:cNvSpPr txBox="1"/>
          <p:nvPr/>
        </p:nvSpPr>
        <p:spPr>
          <a:xfrm>
            <a:off x="7982712" y="2560320"/>
            <a:ext cx="3017520" cy="2011680"/>
          </a:xfrm>
          <a:prstGeom prst="rect">
            <a:avLst/>
          </a:prstGeom>
          <a:noFill/>
        </p:spPr>
        <p:txBody>
          <a:bodyPr wrap="square">
            <a:spAutoFit/>
          </a:bodyPr>
          <a:lstStyle/>
          <a:p>
            <a:pPr algn="l"/>
            <a:r>
              <a:rPr sz="1300" b="0">
                <a:solidFill>
                  <a:srgbClr val="9CA3AF"/>
                </a:solidFill>
                <a:latin typeface="Calibri"/>
              </a:rPr>
              <a:t>The enriched prompt + MCP server give the coding agent targeted
context on demand. Token waste eliminated at the source.</a:t>
            </a:r>
          </a:p>
        </p:txBody>
      </p:sp>
      <p:sp>
        <p:nvSpPr>
          <p:cNvPr id="22" name="TextBox 21"/>
          <p:cNvSpPr txBox="1"/>
          <p:nvPr/>
        </p:nvSpPr>
        <p:spPr>
          <a:xfrm>
            <a:off x="731520" y="5074920"/>
            <a:ext cx="10515600" cy="365760"/>
          </a:xfrm>
          <a:prstGeom prst="rect">
            <a:avLst/>
          </a:prstGeom>
          <a:noFill/>
        </p:spPr>
        <p:txBody>
          <a:bodyPr wrap="square">
            <a:spAutoFit/>
          </a:bodyPr>
          <a:lstStyle/>
          <a:p>
            <a:pPr algn="l"/>
            <a:r>
              <a:rPr sz="1300" b="0">
                <a:solidFill>
                  <a:srgbClr val="9CA3AF"/>
                </a:solidFill>
                <a:latin typeface="Calibri"/>
              </a:rPr>
              <a:t>All processing is local. No repo data leaves your machine.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r>
              <a:rPr sz="3600" b="1">
                <a:solidFill>
                  <a:srgbClr val="FFFFFF"/>
                </a:solidFill>
                <a:latin typeface="Calibri"/>
              </a:rPr>
              <a:t>What It's Built On</a:t>
            </a:r>
          </a:p>
        </p:txBody>
      </p:sp>
      <p:sp>
        <p:nvSpPr>
          <p:cNvPr id="4" name="Rectangle 3"/>
          <p:cNvSpPr/>
          <p:nvPr/>
        </p:nvSpPr>
        <p:spPr>
          <a:xfrm>
            <a:off x="548640" y="1005840"/>
            <a:ext cx="11064240" cy="12700"/>
          </a:xfrm>
          <a:prstGeom prst="rect">
            <a:avLst/>
          </a:prstGeom>
          <a:solidFill>
            <a:srgbClr val="2D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234440"/>
            <a:ext cx="10881360" cy="74980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07592"/>
            <a:ext cx="2560320" cy="594360"/>
          </a:xfrm>
          <a:prstGeom prst="rect">
            <a:avLst/>
          </a:prstGeom>
          <a:noFill/>
        </p:spPr>
        <p:txBody>
          <a:bodyPr wrap="square">
            <a:spAutoFit/>
          </a:bodyPr>
          <a:lstStyle/>
          <a:p>
            <a:pPr algn="l"/>
            <a:r>
              <a:rPr sz="1500" b="1">
                <a:solidFill>
                  <a:srgbClr val="FFFFFF"/>
                </a:solidFill>
                <a:latin typeface="Calibri"/>
              </a:rPr>
              <a:t>Electron + React</a:t>
            </a:r>
          </a:p>
        </p:txBody>
      </p:sp>
      <p:sp>
        <p:nvSpPr>
          <p:cNvPr id="7" name="TextBox 6"/>
          <p:cNvSpPr txBox="1"/>
          <p:nvPr/>
        </p:nvSpPr>
        <p:spPr>
          <a:xfrm>
            <a:off x="3566160" y="1307592"/>
            <a:ext cx="7772400" cy="594360"/>
          </a:xfrm>
          <a:prstGeom prst="rect">
            <a:avLst/>
          </a:prstGeom>
          <a:noFill/>
        </p:spPr>
        <p:txBody>
          <a:bodyPr wrap="square">
            <a:spAutoFit/>
          </a:bodyPr>
          <a:lstStyle/>
          <a:p>
            <a:pPr algn="l"/>
            <a:r>
              <a:rPr sz="1300" b="0">
                <a:solidFill>
                  <a:srgbClr val="9CA3AF"/>
                </a:solidFill>
                <a:latin typeface="Calibri"/>
              </a:rPr>
              <a:t>Desktop app. Overlay triggers on @prompt hook or Ctrl+5. Always on top, never in the way.</a:t>
            </a:r>
          </a:p>
        </p:txBody>
      </p:sp>
      <p:sp>
        <p:nvSpPr>
          <p:cNvPr id="8" name="Rectangle 7"/>
          <p:cNvSpPr/>
          <p:nvPr/>
        </p:nvSpPr>
        <p:spPr>
          <a:xfrm>
            <a:off x="640080" y="2103120"/>
            <a:ext cx="10881360" cy="74980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76272"/>
            <a:ext cx="2560320" cy="594360"/>
          </a:xfrm>
          <a:prstGeom prst="rect">
            <a:avLst/>
          </a:prstGeom>
          <a:noFill/>
        </p:spPr>
        <p:txBody>
          <a:bodyPr wrap="square">
            <a:spAutoFit/>
          </a:bodyPr>
          <a:lstStyle/>
          <a:p>
            <a:pPr algn="l"/>
            <a:r>
              <a:rPr sz="1500" b="1">
                <a:solidFill>
                  <a:srgbClr val="FFFFFF"/>
                </a:solidFill>
                <a:latin typeface="Calibri"/>
              </a:rPr>
              <a:t>Python FastAPI</a:t>
            </a:r>
          </a:p>
        </p:txBody>
      </p:sp>
      <p:sp>
        <p:nvSpPr>
          <p:cNvPr id="10" name="TextBox 9"/>
          <p:cNvSpPr txBox="1"/>
          <p:nvPr/>
        </p:nvSpPr>
        <p:spPr>
          <a:xfrm>
            <a:off x="3566160" y="2176272"/>
            <a:ext cx="7772400" cy="594360"/>
          </a:xfrm>
          <a:prstGeom prst="rect">
            <a:avLst/>
          </a:prstGeom>
          <a:noFill/>
        </p:spPr>
        <p:txBody>
          <a:bodyPr wrap="square">
            <a:spAutoFit/>
          </a:bodyPr>
          <a:lstStyle/>
          <a:p>
            <a:pPr algn="l"/>
            <a:r>
              <a:rPr sz="1300" b="0">
                <a:solidFill>
                  <a:srgbClr val="9CA3AF"/>
                </a:solidFill>
                <a:latin typeface="Calibri"/>
              </a:rPr>
              <a:t>Prompt optimizer pipeline and code intelligence service. Six-stage: decision, skill selector, context, optimizer, clarifier, planner.</a:t>
            </a:r>
          </a:p>
        </p:txBody>
      </p:sp>
      <p:sp>
        <p:nvSpPr>
          <p:cNvPr id="11" name="Rectangle 10"/>
          <p:cNvSpPr/>
          <p:nvPr/>
        </p:nvSpPr>
        <p:spPr>
          <a:xfrm>
            <a:off x="640080" y="2971800"/>
            <a:ext cx="10881360" cy="74980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44952"/>
            <a:ext cx="2560320" cy="594360"/>
          </a:xfrm>
          <a:prstGeom prst="rect">
            <a:avLst/>
          </a:prstGeom>
          <a:noFill/>
        </p:spPr>
        <p:txBody>
          <a:bodyPr wrap="square">
            <a:spAutoFit/>
          </a:bodyPr>
          <a:lstStyle/>
          <a:p>
            <a:pPr algn="l"/>
            <a:r>
              <a:rPr sz="1500" b="1">
                <a:solidFill>
                  <a:srgbClr val="FFFFFF"/>
                </a:solidFill>
                <a:latin typeface="Calibri"/>
              </a:rPr>
              <a:t>Rust N-API</a:t>
            </a:r>
          </a:p>
        </p:txBody>
      </p:sp>
      <p:sp>
        <p:nvSpPr>
          <p:cNvPr id="13" name="TextBox 12"/>
          <p:cNvSpPr txBox="1"/>
          <p:nvPr/>
        </p:nvSpPr>
        <p:spPr>
          <a:xfrm>
            <a:off x="3566160" y="3044952"/>
            <a:ext cx="7772400" cy="594360"/>
          </a:xfrm>
          <a:prstGeom prst="rect">
            <a:avLst/>
          </a:prstGeom>
          <a:noFill/>
        </p:spPr>
        <p:txBody>
          <a:bodyPr wrap="square">
            <a:spAutoFit/>
          </a:bodyPr>
          <a:lstStyle/>
          <a:p>
            <a:pPr algn="l"/>
            <a:r>
              <a:rPr sz="1300" b="0">
                <a:solidFill>
                  <a:srgbClr val="9CA3AF"/>
                </a:solidFill>
                <a:latin typeface="Calibri"/>
              </a:rPr>
              <a:t>Native platform bridge. Hooks into keystrokes and system tray without Electron overhead.</a:t>
            </a:r>
          </a:p>
        </p:txBody>
      </p:sp>
      <p:sp>
        <p:nvSpPr>
          <p:cNvPr id="14" name="Rectangle 13"/>
          <p:cNvSpPr/>
          <p:nvPr/>
        </p:nvSpPr>
        <p:spPr>
          <a:xfrm>
            <a:off x="640080" y="3840480"/>
            <a:ext cx="10881360" cy="74980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913632"/>
            <a:ext cx="2560320" cy="594360"/>
          </a:xfrm>
          <a:prstGeom prst="rect">
            <a:avLst/>
          </a:prstGeom>
          <a:noFill/>
        </p:spPr>
        <p:txBody>
          <a:bodyPr wrap="square">
            <a:spAutoFit/>
          </a:bodyPr>
          <a:lstStyle/>
          <a:p>
            <a:pPr algn="l"/>
            <a:r>
              <a:rPr sz="1500" b="1">
                <a:solidFill>
                  <a:srgbClr val="FFFFFF"/>
                </a:solidFill>
                <a:latin typeface="Calibri"/>
              </a:rPr>
              <a:t>Tree-sitter + BGE</a:t>
            </a:r>
          </a:p>
        </p:txBody>
      </p:sp>
      <p:sp>
        <p:nvSpPr>
          <p:cNvPr id="16" name="TextBox 15"/>
          <p:cNvSpPr txBox="1"/>
          <p:nvPr/>
        </p:nvSpPr>
        <p:spPr>
          <a:xfrm>
            <a:off x="3566160" y="3913632"/>
            <a:ext cx="7772400" cy="594360"/>
          </a:xfrm>
          <a:prstGeom prst="rect">
            <a:avLst/>
          </a:prstGeom>
          <a:noFill/>
        </p:spPr>
        <p:txBody>
          <a:bodyPr wrap="square">
            <a:spAutoFit/>
          </a:bodyPr>
          <a:lstStyle/>
          <a:p>
            <a:pPr algn="l"/>
            <a:r>
              <a:rPr sz="1300" b="0">
                <a:solidFill>
                  <a:srgbClr val="9CA3AF"/>
                </a:solidFill>
                <a:latin typeface="Calibri"/>
              </a:rPr>
              <a:t>Local repo parsing and ONNX vector embeddings. Call-graph expansion via igraph + PageRank. No cloud dependency.</a:t>
            </a:r>
          </a:p>
        </p:txBody>
      </p:sp>
      <p:sp>
        <p:nvSpPr>
          <p:cNvPr id="17" name="Rectangle 16"/>
          <p:cNvSpPr/>
          <p:nvPr/>
        </p:nvSpPr>
        <p:spPr>
          <a:xfrm>
            <a:off x="640080" y="4709160"/>
            <a:ext cx="10881360" cy="74980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782312"/>
            <a:ext cx="2560320" cy="594360"/>
          </a:xfrm>
          <a:prstGeom prst="rect">
            <a:avLst/>
          </a:prstGeom>
          <a:noFill/>
        </p:spPr>
        <p:txBody>
          <a:bodyPr wrap="square">
            <a:spAutoFit/>
          </a:bodyPr>
          <a:lstStyle/>
          <a:p>
            <a:pPr algn="l"/>
            <a:r>
              <a:rPr sz="1500" b="1">
                <a:solidFill>
                  <a:srgbClr val="FFFFFF"/>
                </a:solidFill>
                <a:latin typeface="Calibri"/>
              </a:rPr>
              <a:t>MCP Server (stdio)</a:t>
            </a:r>
          </a:p>
        </p:txBody>
      </p:sp>
      <p:sp>
        <p:nvSpPr>
          <p:cNvPr id="19" name="TextBox 18"/>
          <p:cNvSpPr txBox="1"/>
          <p:nvPr/>
        </p:nvSpPr>
        <p:spPr>
          <a:xfrm>
            <a:off x="3566160" y="4782312"/>
            <a:ext cx="7772400" cy="594360"/>
          </a:xfrm>
          <a:prstGeom prst="rect">
            <a:avLst/>
          </a:prstGeom>
          <a:noFill/>
        </p:spPr>
        <p:txBody>
          <a:bodyPr wrap="square">
            <a:spAutoFit/>
          </a:bodyPr>
          <a:lstStyle/>
          <a:p>
            <a:pPr algn="l"/>
            <a:r>
              <a:rPr sz="1300" b="0">
                <a:solidFill>
                  <a:srgbClr val="9CA3AF"/>
                </a:solidFill>
                <a:latin typeface="Calibri"/>
              </a:rPr>
              <a:t>JSON-RPC protocol over stdio. Works with Claude Code, Codex CLI, Command Code, and any MCP-compatible agent.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r>
              <a:rPr sz="3600" b="1">
                <a:solidFill>
                  <a:srgbClr val="FFFFFF"/>
                </a:solidFill>
                <a:latin typeface="Calibri"/>
              </a:rPr>
              <a:t>Benchmark Results</a:t>
            </a:r>
          </a:p>
        </p:txBody>
      </p:sp>
      <p:sp>
        <p:nvSpPr>
          <p:cNvPr id="4" name="Rectangle 3"/>
          <p:cNvSpPr/>
          <p:nvPr/>
        </p:nvSpPr>
        <p:spPr>
          <a:xfrm>
            <a:off x="548640" y="960120"/>
            <a:ext cx="11064240" cy="12700"/>
          </a:xfrm>
          <a:prstGeom prst="rect">
            <a:avLst/>
          </a:prstGeom>
          <a:solidFill>
            <a:srgbClr val="2D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078992"/>
            <a:ext cx="2651760" cy="8046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15568"/>
            <a:ext cx="2377440" cy="457200"/>
          </a:xfrm>
          <a:prstGeom prst="rect">
            <a:avLst/>
          </a:prstGeom>
          <a:noFill/>
        </p:spPr>
        <p:txBody>
          <a:bodyPr wrap="square">
            <a:spAutoFit/>
          </a:bodyPr>
          <a:lstStyle/>
          <a:p>
            <a:pPr algn="l"/>
            <a:r>
              <a:rPr sz="2600" b="1">
                <a:solidFill>
                  <a:srgbClr val="10B981"/>
                </a:solidFill>
                <a:latin typeface="Calibri"/>
              </a:rPr>
              <a:t>60</a:t>
            </a:r>
          </a:p>
        </p:txBody>
      </p:sp>
      <p:sp>
        <p:nvSpPr>
          <p:cNvPr id="7" name="TextBox 6"/>
          <p:cNvSpPr txBox="1"/>
          <p:nvPr/>
        </p:nvSpPr>
        <p:spPr>
          <a:xfrm>
            <a:off x="731520" y="1444752"/>
            <a:ext cx="2377440" cy="347472"/>
          </a:xfrm>
          <a:prstGeom prst="rect">
            <a:avLst/>
          </a:prstGeom>
          <a:noFill/>
        </p:spPr>
        <p:txBody>
          <a:bodyPr wrap="square">
            <a:spAutoFit/>
          </a:bodyPr>
          <a:lstStyle/>
          <a:p>
            <a:pPr algn="l"/>
            <a:r>
              <a:rPr sz="1000" b="0">
                <a:solidFill>
                  <a:srgbClr val="9CA3AF"/>
                </a:solidFill>
                <a:latin typeface="Calibri"/>
              </a:rPr>
              <a:t>total runs</a:t>
            </a:r>
          </a:p>
        </p:txBody>
      </p:sp>
      <p:sp>
        <p:nvSpPr>
          <p:cNvPr id="8" name="Rectangle 7"/>
          <p:cNvSpPr/>
          <p:nvPr/>
        </p:nvSpPr>
        <p:spPr>
          <a:xfrm>
            <a:off x="3447288" y="1078992"/>
            <a:ext cx="2651760" cy="8046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84448" y="1115568"/>
            <a:ext cx="2377440" cy="457200"/>
          </a:xfrm>
          <a:prstGeom prst="rect">
            <a:avLst/>
          </a:prstGeom>
          <a:noFill/>
        </p:spPr>
        <p:txBody>
          <a:bodyPr wrap="square">
            <a:spAutoFit/>
          </a:bodyPr>
          <a:lstStyle/>
          <a:p>
            <a:pPr algn="l"/>
            <a:r>
              <a:rPr sz="2600" b="1">
                <a:solidFill>
                  <a:srgbClr val="10B981"/>
                </a:solidFill>
                <a:latin typeface="Calibri"/>
              </a:rPr>
              <a:t>100%</a:t>
            </a:r>
          </a:p>
        </p:txBody>
      </p:sp>
      <p:sp>
        <p:nvSpPr>
          <p:cNvPr id="10" name="TextBox 9"/>
          <p:cNvSpPr txBox="1"/>
          <p:nvPr/>
        </p:nvSpPr>
        <p:spPr>
          <a:xfrm>
            <a:off x="3584448" y="1444752"/>
            <a:ext cx="2377440" cy="347472"/>
          </a:xfrm>
          <a:prstGeom prst="rect">
            <a:avLst/>
          </a:prstGeom>
          <a:noFill/>
        </p:spPr>
        <p:txBody>
          <a:bodyPr wrap="square">
            <a:spAutoFit/>
          </a:bodyPr>
          <a:lstStyle/>
          <a:p>
            <a:pPr algn="l"/>
            <a:r>
              <a:rPr sz="1000" b="0">
                <a:solidFill>
                  <a:srgbClr val="9CA3AF"/>
                </a:solidFill>
                <a:latin typeface="Calibri"/>
              </a:rPr>
              <a:t>pass rate (all variants)</a:t>
            </a:r>
          </a:p>
        </p:txBody>
      </p:sp>
      <p:sp>
        <p:nvSpPr>
          <p:cNvPr id="11" name="Rectangle 10"/>
          <p:cNvSpPr/>
          <p:nvPr/>
        </p:nvSpPr>
        <p:spPr>
          <a:xfrm>
            <a:off x="6300216" y="1078992"/>
            <a:ext cx="2651760" cy="8046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115568"/>
            <a:ext cx="2377440" cy="457200"/>
          </a:xfrm>
          <a:prstGeom prst="rect">
            <a:avLst/>
          </a:prstGeom>
          <a:noFill/>
        </p:spPr>
        <p:txBody>
          <a:bodyPr wrap="square">
            <a:spAutoFit/>
          </a:bodyPr>
          <a:lstStyle/>
          <a:p>
            <a:pPr algn="l"/>
            <a:r>
              <a:rPr sz="2600" b="1">
                <a:solidFill>
                  <a:srgbClr val="10B981"/>
                </a:solidFill>
                <a:latin typeface="Calibri"/>
              </a:rPr>
              <a:t>52%</a:t>
            </a:r>
          </a:p>
        </p:txBody>
      </p:sp>
      <p:sp>
        <p:nvSpPr>
          <p:cNvPr id="13" name="TextBox 12"/>
          <p:cNvSpPr txBox="1"/>
          <p:nvPr/>
        </p:nvSpPr>
        <p:spPr>
          <a:xfrm>
            <a:off x="6437376" y="1444752"/>
            <a:ext cx="2377440" cy="347472"/>
          </a:xfrm>
          <a:prstGeom prst="rect">
            <a:avLst/>
          </a:prstGeom>
          <a:noFill/>
        </p:spPr>
        <p:txBody>
          <a:bodyPr wrap="square">
            <a:spAutoFit/>
          </a:bodyPr>
          <a:lstStyle/>
          <a:p>
            <a:pPr algn="l"/>
            <a:r>
              <a:rPr sz="1000" b="0">
                <a:solidFill>
                  <a:srgbClr val="9CA3AF"/>
                </a:solidFill>
                <a:latin typeface="Calibri"/>
              </a:rPr>
              <a:t>peak Codex savings</a:t>
            </a:r>
          </a:p>
        </p:txBody>
      </p:sp>
      <p:sp>
        <p:nvSpPr>
          <p:cNvPr id="14" name="Rectangle 13"/>
          <p:cNvSpPr/>
          <p:nvPr/>
        </p:nvSpPr>
        <p:spPr>
          <a:xfrm>
            <a:off x="9153144" y="1078992"/>
            <a:ext cx="2651760" cy="8046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0304" y="1115568"/>
            <a:ext cx="2377440" cy="457200"/>
          </a:xfrm>
          <a:prstGeom prst="rect">
            <a:avLst/>
          </a:prstGeom>
          <a:noFill/>
        </p:spPr>
        <p:txBody>
          <a:bodyPr wrap="square">
            <a:spAutoFit/>
          </a:bodyPr>
          <a:lstStyle/>
          <a:p>
            <a:pPr algn="l"/>
            <a:r>
              <a:rPr sz="2600" b="1">
                <a:solidFill>
                  <a:srgbClr val="10B981"/>
                </a:solidFill>
                <a:latin typeface="Calibri"/>
              </a:rPr>
              <a:t>83%</a:t>
            </a:r>
          </a:p>
        </p:txBody>
      </p:sp>
      <p:sp>
        <p:nvSpPr>
          <p:cNvPr id="16" name="TextBox 15"/>
          <p:cNvSpPr txBox="1"/>
          <p:nvPr/>
        </p:nvSpPr>
        <p:spPr>
          <a:xfrm>
            <a:off x="9290304" y="1444752"/>
            <a:ext cx="2377440" cy="347472"/>
          </a:xfrm>
          <a:prstGeom prst="rect">
            <a:avLst/>
          </a:prstGeom>
          <a:noFill/>
        </p:spPr>
        <p:txBody>
          <a:bodyPr wrap="square">
            <a:spAutoFit/>
          </a:bodyPr>
          <a:lstStyle/>
          <a:p>
            <a:pPr algn="l"/>
            <a:r>
              <a:rPr sz="1000" b="0">
                <a:solidFill>
                  <a:srgbClr val="9CA3AF"/>
                </a:solidFill>
                <a:latin typeface="Calibri"/>
              </a:rPr>
              <a:t>Codex variants = win</a:t>
            </a:r>
          </a:p>
        </p:txBody>
      </p:sp>
      <p:pic>
        <p:nvPicPr>
          <p:cNvPr id="17" name="Picture 16" descr="image.png"/>
          <p:cNvPicPr>
            <a:picLocks noChangeAspect="1"/>
          </p:cNvPicPr>
          <p:nvPr/>
        </p:nvPicPr>
        <p:blipFill>
          <a:blip r:embed="rId2"/>
          <a:stretch>
            <a:fillRect/>
          </a:stretch>
        </p:blipFill>
        <p:spPr>
          <a:xfrm>
            <a:off x="502920" y="1993392"/>
            <a:ext cx="11155680" cy="44348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972800" cy="594360"/>
          </a:xfrm>
          <a:prstGeom prst="rect">
            <a:avLst/>
          </a:prstGeom>
          <a:noFill/>
        </p:spPr>
        <p:txBody>
          <a:bodyPr wrap="square">
            <a:spAutoFit/>
          </a:bodyPr>
          <a:lstStyle/>
          <a:p>
            <a:pPr algn="l"/>
            <a:r>
              <a:rPr sz="3400" b="1">
                <a:solidFill>
                  <a:srgbClr val="FFFFFF"/>
                </a:solidFill>
                <a:latin typeface="Calibri"/>
              </a:rPr>
              <a:t>Why Codex Saves / Why Claude Doesn't</a:t>
            </a:r>
          </a:p>
        </p:txBody>
      </p:sp>
      <p:sp>
        <p:nvSpPr>
          <p:cNvPr id="4" name="Rectangle 3"/>
          <p:cNvSpPr/>
          <p:nvPr/>
        </p:nvSpPr>
        <p:spPr>
          <a:xfrm>
            <a:off x="548640" y="1005840"/>
            <a:ext cx="11064240" cy="12700"/>
          </a:xfrm>
          <a:prstGeom prst="rect">
            <a:avLst/>
          </a:prstGeom>
          <a:solidFill>
            <a:srgbClr val="2D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234440"/>
            <a:ext cx="5212080" cy="48463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234440"/>
            <a:ext cx="521208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4754880" cy="502920"/>
          </a:xfrm>
          <a:prstGeom prst="rect">
            <a:avLst/>
          </a:prstGeom>
          <a:noFill/>
        </p:spPr>
        <p:txBody>
          <a:bodyPr wrap="square">
            <a:spAutoFit/>
          </a:bodyPr>
          <a:lstStyle/>
          <a:p>
            <a:pPr algn="l"/>
            <a:r>
              <a:rPr sz="2200" b="1">
                <a:solidFill>
                  <a:srgbClr val="10B981"/>
                </a:solidFill>
                <a:latin typeface="Calibri"/>
              </a:rPr>
              <a:t>Codex CLI</a:t>
            </a:r>
          </a:p>
        </p:txBody>
      </p:sp>
      <p:sp>
        <p:nvSpPr>
          <p:cNvPr id="8" name="TextBox 7"/>
          <p:cNvSpPr txBox="1"/>
          <p:nvPr/>
        </p:nvSpPr>
        <p:spPr>
          <a:xfrm>
            <a:off x="822960" y="1920240"/>
            <a:ext cx="4754880" cy="3749039"/>
          </a:xfrm>
          <a:prstGeom prst="rect">
            <a:avLst/>
          </a:prstGeom>
          <a:noFill/>
        </p:spPr>
        <p:txBody>
          <a:bodyPr wrap="square">
            <a:spAutoFit/>
          </a:bodyPr>
          <a:lstStyle/>
          <a:p>
            <a:pPr algn="l"/>
            <a:r>
              <a:rPr sz="1400" b="0">
                <a:solidFill>
                  <a:srgbClr val="9CA3AF"/>
                </a:solidFill>
                <a:latin typeface="Calibri"/>
              </a:rPr>
              <a:t>Codex has no server-side prompt cache. Every token in the context window is billed at full rate.
PRMPT cuts that context window by sending only the relevant files rather than the agent doing its own broad Grep/Glob sweeps.
Result: 8–52% net savings across 6 tasks. The savings scale with repo size.</a:t>
            </a:r>
          </a:p>
        </p:txBody>
      </p:sp>
      <p:sp>
        <p:nvSpPr>
          <p:cNvPr id="9" name="Rectangle 8"/>
          <p:cNvSpPr/>
          <p:nvPr/>
        </p:nvSpPr>
        <p:spPr>
          <a:xfrm>
            <a:off x="6355080" y="1234440"/>
            <a:ext cx="5212080" cy="48463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234440"/>
            <a:ext cx="5212080"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371600"/>
            <a:ext cx="4754880" cy="502920"/>
          </a:xfrm>
          <a:prstGeom prst="rect">
            <a:avLst/>
          </a:prstGeom>
          <a:noFill/>
        </p:spPr>
        <p:txBody>
          <a:bodyPr wrap="square">
            <a:spAutoFit/>
          </a:bodyPr>
          <a:lstStyle/>
          <a:p>
            <a:pPr algn="l"/>
            <a:r>
              <a:rPr sz="2200" b="1">
                <a:solidFill>
                  <a:srgbClr val="EF4444"/>
                </a:solidFill>
                <a:latin typeface="Calibri"/>
              </a:rPr>
              <a:t>Claude Code</a:t>
            </a:r>
          </a:p>
        </p:txBody>
      </p:sp>
      <p:sp>
        <p:nvSpPr>
          <p:cNvPr id="12" name="TextBox 11"/>
          <p:cNvSpPr txBox="1"/>
          <p:nvPr/>
        </p:nvSpPr>
        <p:spPr>
          <a:xfrm>
            <a:off x="6583680" y="1920240"/>
            <a:ext cx="4754880" cy="3749039"/>
          </a:xfrm>
          <a:prstGeom prst="rect">
            <a:avLst/>
          </a:prstGeom>
          <a:noFill/>
        </p:spPr>
        <p:txBody>
          <a:bodyPr wrap="square">
            <a:spAutoFit/>
          </a:bodyPr>
          <a:lstStyle/>
          <a:p>
            <a:pPr algn="l"/>
            <a:r>
              <a:rPr sz="1400" b="0">
                <a:solidFill>
                  <a:srgbClr val="9CA3AF"/>
                </a:solidFill>
                <a:latin typeface="Calibri"/>
              </a:rPr>
              <a:t>Claude's prompt cache is aggressive. Repeated context comes back at ~10% of full input cost.
PRMPT's optimization spend ($0.049/task amortized) often exceeds the cache discount, making net savings marginal or negative.
Claude wins when the optimization cost drops (live pipeline) or when cache misses dominate (first run, new repo).</a:t>
            </a:r>
          </a:p>
        </p:txBody>
      </p:sp>
      <p:sp>
        <p:nvSpPr>
          <p:cNvPr id="13" name="Rectangle 12"/>
          <p:cNvSpPr/>
          <p:nvPr/>
        </p:nvSpPr>
        <p:spPr>
          <a:xfrm>
            <a:off x="5943600" y="1234440"/>
            <a:ext cx="73152" cy="4846320"/>
          </a:xfrm>
          <a:prstGeom prst="rect">
            <a:avLst/>
          </a:prstGeom>
          <a:solidFill>
            <a:srgbClr val="2D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r>
              <a:rPr sz="3600" b="1">
                <a:solidFill>
                  <a:srgbClr val="FFFFFF"/>
                </a:solidFill>
                <a:latin typeface="Calibri"/>
              </a:rPr>
              <a:t>The ROI</a:t>
            </a:r>
          </a:p>
        </p:txBody>
      </p:sp>
      <p:sp>
        <p:nvSpPr>
          <p:cNvPr id="4" name="Rectangle 3"/>
          <p:cNvSpPr/>
          <p:nvPr/>
        </p:nvSpPr>
        <p:spPr>
          <a:xfrm>
            <a:off x="548640" y="1005840"/>
            <a:ext cx="11064240" cy="12700"/>
          </a:xfrm>
          <a:prstGeom prst="rect">
            <a:avLst/>
          </a:prstGeom>
          <a:solidFill>
            <a:srgbClr val="2D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78992"/>
            <a:ext cx="10058400" cy="365760"/>
          </a:xfrm>
          <a:prstGeom prst="rect">
            <a:avLst/>
          </a:prstGeom>
          <a:noFill/>
        </p:spPr>
        <p:txBody>
          <a:bodyPr wrap="square">
            <a:spAutoFit/>
          </a:bodyPr>
          <a:lstStyle/>
          <a:p>
            <a:pPr algn="l"/>
            <a:r>
              <a:rPr sz="1400" b="0">
                <a:solidFill>
                  <a:srgbClr val="9CA3AF"/>
                </a:solidFill>
                <a:latin typeface="Calibri"/>
              </a:rPr>
              <a:t>Conservative estimate. Anchored to benchmark data.</a:t>
            </a:r>
          </a:p>
        </p:txBody>
      </p:sp>
      <p:sp>
        <p:nvSpPr>
          <p:cNvPr id="6" name="Rectangle 5"/>
          <p:cNvSpPr/>
          <p:nvPr/>
        </p:nvSpPr>
        <p:spPr>
          <a:xfrm>
            <a:off x="640080" y="1600200"/>
            <a:ext cx="10972800"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45920"/>
            <a:ext cx="4754880" cy="365760"/>
          </a:xfrm>
          <a:prstGeom prst="rect">
            <a:avLst/>
          </a:prstGeom>
          <a:noFill/>
        </p:spPr>
        <p:txBody>
          <a:bodyPr wrap="square">
            <a:spAutoFit/>
          </a:bodyPr>
          <a:lstStyle/>
          <a:p>
            <a:pPr algn="l"/>
            <a:r>
              <a:rPr sz="1200" b="1">
                <a:solidFill>
                  <a:srgbClr val="FFFFFF"/>
                </a:solidFill>
                <a:latin typeface="Calibri"/>
              </a:rPr>
              <a:t>Metric</a:t>
            </a:r>
          </a:p>
        </p:txBody>
      </p:sp>
      <p:sp>
        <p:nvSpPr>
          <p:cNvPr id="8" name="TextBox 7"/>
          <p:cNvSpPr txBox="1"/>
          <p:nvPr/>
        </p:nvSpPr>
        <p:spPr>
          <a:xfrm>
            <a:off x="5669280" y="1645920"/>
            <a:ext cx="3017520" cy="365760"/>
          </a:xfrm>
          <a:prstGeom prst="rect">
            <a:avLst/>
          </a:prstGeom>
          <a:noFill/>
        </p:spPr>
        <p:txBody>
          <a:bodyPr wrap="square">
            <a:spAutoFit/>
          </a:bodyPr>
          <a:lstStyle/>
          <a:p>
            <a:pPr algn="l"/>
            <a:r>
              <a:rPr sz="1200" b="1">
                <a:solidFill>
                  <a:srgbClr val="FFFFFF"/>
                </a:solidFill>
                <a:latin typeface="Calibri"/>
              </a:rPr>
              <a:t>Conservative</a:t>
            </a:r>
          </a:p>
        </p:txBody>
      </p:sp>
      <p:sp>
        <p:nvSpPr>
          <p:cNvPr id="9" name="TextBox 8"/>
          <p:cNvSpPr txBox="1"/>
          <p:nvPr/>
        </p:nvSpPr>
        <p:spPr>
          <a:xfrm>
            <a:off x="8869680" y="1645920"/>
            <a:ext cx="3017520" cy="365760"/>
          </a:xfrm>
          <a:prstGeom prst="rect">
            <a:avLst/>
          </a:prstGeom>
          <a:noFill/>
        </p:spPr>
        <p:txBody>
          <a:bodyPr wrap="square">
            <a:spAutoFit/>
          </a:bodyPr>
          <a:lstStyle/>
          <a:p>
            <a:pPr algn="l"/>
            <a:r>
              <a:rPr sz="1200" b="1">
                <a:solidFill>
                  <a:srgbClr val="FFFFFF"/>
                </a:solidFill>
                <a:latin typeface="Calibri"/>
              </a:rPr>
              <a:t>At 40% savings (atlas-p3 level)</a:t>
            </a:r>
          </a:p>
        </p:txBody>
      </p:sp>
      <p:sp>
        <p:nvSpPr>
          <p:cNvPr id="10" name="Rectangle 9"/>
          <p:cNvSpPr/>
          <p:nvPr/>
        </p:nvSpPr>
        <p:spPr>
          <a:xfrm>
            <a:off x="640080" y="2103120"/>
            <a:ext cx="10972800" cy="5303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157984"/>
            <a:ext cx="4754880" cy="411480"/>
          </a:xfrm>
          <a:prstGeom prst="rect">
            <a:avLst/>
          </a:prstGeom>
          <a:noFill/>
        </p:spPr>
        <p:txBody>
          <a:bodyPr wrap="square">
            <a:spAutoFit/>
          </a:bodyPr>
          <a:lstStyle/>
          <a:p>
            <a:pPr algn="l"/>
            <a:r>
              <a:rPr sz="1300" b="1">
                <a:solidFill>
                  <a:srgbClr val="FFFFFF"/>
                </a:solidFill>
                <a:latin typeface="Calibri"/>
              </a:rPr>
              <a:t>Monthly Codex spend</a:t>
            </a:r>
          </a:p>
        </p:txBody>
      </p:sp>
      <p:sp>
        <p:nvSpPr>
          <p:cNvPr id="12" name="TextBox 11"/>
          <p:cNvSpPr txBox="1"/>
          <p:nvPr/>
        </p:nvSpPr>
        <p:spPr>
          <a:xfrm>
            <a:off x="5669280" y="2157984"/>
            <a:ext cx="3017520" cy="411480"/>
          </a:xfrm>
          <a:prstGeom prst="rect">
            <a:avLst/>
          </a:prstGeom>
          <a:noFill/>
        </p:spPr>
        <p:txBody>
          <a:bodyPr wrap="square">
            <a:spAutoFit/>
          </a:bodyPr>
          <a:lstStyle/>
          <a:p>
            <a:pPr algn="l"/>
            <a:r>
              <a:rPr sz="1300" b="0">
                <a:solidFill>
                  <a:srgbClr val="FFFFFF"/>
                </a:solidFill>
                <a:latin typeface="Calibri"/>
              </a:rPr>
              <a:t>$400</a:t>
            </a:r>
          </a:p>
        </p:txBody>
      </p:sp>
      <p:sp>
        <p:nvSpPr>
          <p:cNvPr id="13" name="TextBox 12"/>
          <p:cNvSpPr txBox="1"/>
          <p:nvPr/>
        </p:nvSpPr>
        <p:spPr>
          <a:xfrm>
            <a:off x="8869680" y="2157984"/>
            <a:ext cx="3017520" cy="411480"/>
          </a:xfrm>
          <a:prstGeom prst="rect">
            <a:avLst/>
          </a:prstGeom>
          <a:noFill/>
        </p:spPr>
        <p:txBody>
          <a:bodyPr wrap="square">
            <a:spAutoFit/>
          </a:bodyPr>
          <a:lstStyle/>
          <a:p>
            <a:pPr algn="l"/>
            <a:r>
              <a:rPr sz="1300" b="0">
                <a:solidFill>
                  <a:srgbClr val="FFFFFF"/>
                </a:solidFill>
                <a:latin typeface="Calibri"/>
              </a:rPr>
              <a:t>$400</a:t>
            </a:r>
          </a:p>
        </p:txBody>
      </p:sp>
      <p:sp>
        <p:nvSpPr>
          <p:cNvPr id="14" name="Rectangle 13"/>
          <p:cNvSpPr/>
          <p:nvPr/>
        </p:nvSpPr>
        <p:spPr>
          <a:xfrm>
            <a:off x="640080" y="2670048"/>
            <a:ext cx="10972800" cy="530352"/>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724912"/>
            <a:ext cx="4754880" cy="411480"/>
          </a:xfrm>
          <a:prstGeom prst="rect">
            <a:avLst/>
          </a:prstGeom>
          <a:noFill/>
        </p:spPr>
        <p:txBody>
          <a:bodyPr wrap="square">
            <a:spAutoFit/>
          </a:bodyPr>
          <a:lstStyle/>
          <a:p>
            <a:pPr algn="l"/>
            <a:r>
              <a:rPr sz="1300" b="1">
                <a:solidFill>
                  <a:srgbClr val="FFFFFF"/>
                </a:solidFill>
                <a:latin typeface="Calibri"/>
              </a:rPr>
              <a:t>PRMPT net savings (25% avg)</a:t>
            </a:r>
          </a:p>
        </p:txBody>
      </p:sp>
      <p:sp>
        <p:nvSpPr>
          <p:cNvPr id="16" name="TextBox 15"/>
          <p:cNvSpPr txBox="1"/>
          <p:nvPr/>
        </p:nvSpPr>
        <p:spPr>
          <a:xfrm>
            <a:off x="5669280" y="2724912"/>
            <a:ext cx="3017520" cy="411480"/>
          </a:xfrm>
          <a:prstGeom prst="rect">
            <a:avLst/>
          </a:prstGeom>
          <a:noFill/>
        </p:spPr>
        <p:txBody>
          <a:bodyPr wrap="square">
            <a:spAutoFit/>
          </a:bodyPr>
          <a:lstStyle/>
          <a:p>
            <a:pPr algn="l"/>
            <a:r>
              <a:rPr sz="1300" b="0">
                <a:solidFill>
                  <a:srgbClr val="FFFFFF"/>
                </a:solidFill>
                <a:latin typeface="Calibri"/>
              </a:rPr>
              <a:t>$100</a:t>
            </a:r>
          </a:p>
        </p:txBody>
      </p:sp>
      <p:sp>
        <p:nvSpPr>
          <p:cNvPr id="17" name="TextBox 16"/>
          <p:cNvSpPr txBox="1"/>
          <p:nvPr/>
        </p:nvSpPr>
        <p:spPr>
          <a:xfrm>
            <a:off x="8869680" y="2724912"/>
            <a:ext cx="3017520" cy="411480"/>
          </a:xfrm>
          <a:prstGeom prst="rect">
            <a:avLst/>
          </a:prstGeom>
          <a:noFill/>
        </p:spPr>
        <p:txBody>
          <a:bodyPr wrap="square">
            <a:spAutoFit/>
          </a:bodyPr>
          <a:lstStyle/>
          <a:p>
            <a:pPr algn="l"/>
            <a:r>
              <a:rPr sz="1300" b="0">
                <a:solidFill>
                  <a:srgbClr val="FFFFFF"/>
                </a:solidFill>
                <a:latin typeface="Calibri"/>
              </a:rPr>
              <a:t>$100</a:t>
            </a:r>
          </a:p>
        </p:txBody>
      </p:sp>
      <p:sp>
        <p:nvSpPr>
          <p:cNvPr id="18" name="Rectangle 17"/>
          <p:cNvSpPr/>
          <p:nvPr/>
        </p:nvSpPr>
        <p:spPr>
          <a:xfrm>
            <a:off x="640080" y="3236976"/>
            <a:ext cx="10972800" cy="5303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291840"/>
            <a:ext cx="4754880" cy="411480"/>
          </a:xfrm>
          <a:prstGeom prst="rect">
            <a:avLst/>
          </a:prstGeom>
          <a:noFill/>
        </p:spPr>
        <p:txBody>
          <a:bodyPr wrap="square">
            <a:spAutoFit/>
          </a:bodyPr>
          <a:lstStyle/>
          <a:p>
            <a:pPr algn="l"/>
            <a:r>
              <a:rPr sz="1300" b="1">
                <a:solidFill>
                  <a:srgbClr val="FFFFFF"/>
                </a:solidFill>
                <a:latin typeface="Calibri"/>
              </a:rPr>
              <a:t>PRMPT cost estimate</a:t>
            </a:r>
          </a:p>
        </p:txBody>
      </p:sp>
      <p:sp>
        <p:nvSpPr>
          <p:cNvPr id="20" name="TextBox 19"/>
          <p:cNvSpPr txBox="1"/>
          <p:nvPr/>
        </p:nvSpPr>
        <p:spPr>
          <a:xfrm>
            <a:off x="5669280" y="3291840"/>
            <a:ext cx="3017520" cy="411480"/>
          </a:xfrm>
          <a:prstGeom prst="rect">
            <a:avLst/>
          </a:prstGeom>
          <a:noFill/>
        </p:spPr>
        <p:txBody>
          <a:bodyPr wrap="square">
            <a:spAutoFit/>
          </a:bodyPr>
          <a:lstStyle/>
          <a:p>
            <a:pPr algn="l"/>
            <a:r>
              <a:rPr sz="1300" b="0">
                <a:solidFill>
                  <a:srgbClr val="FFFFFF"/>
                </a:solidFill>
                <a:latin typeface="Calibri"/>
              </a:rPr>
              <a:t>$20/mo</a:t>
            </a:r>
          </a:p>
        </p:txBody>
      </p:sp>
      <p:sp>
        <p:nvSpPr>
          <p:cNvPr id="21" name="TextBox 20"/>
          <p:cNvSpPr txBox="1"/>
          <p:nvPr/>
        </p:nvSpPr>
        <p:spPr>
          <a:xfrm>
            <a:off x="8869680" y="3291840"/>
            <a:ext cx="3017520" cy="411480"/>
          </a:xfrm>
          <a:prstGeom prst="rect">
            <a:avLst/>
          </a:prstGeom>
          <a:noFill/>
        </p:spPr>
        <p:txBody>
          <a:bodyPr wrap="square">
            <a:spAutoFit/>
          </a:bodyPr>
          <a:lstStyle/>
          <a:p>
            <a:pPr algn="l"/>
            <a:r>
              <a:rPr sz="1300" b="0">
                <a:solidFill>
                  <a:srgbClr val="FFFFFF"/>
                </a:solidFill>
                <a:latin typeface="Calibri"/>
              </a:rPr>
              <a:t>$20/mo</a:t>
            </a:r>
          </a:p>
        </p:txBody>
      </p:sp>
      <p:sp>
        <p:nvSpPr>
          <p:cNvPr id="22" name="Rectangle 21"/>
          <p:cNvSpPr/>
          <p:nvPr/>
        </p:nvSpPr>
        <p:spPr>
          <a:xfrm>
            <a:off x="640080" y="3803904"/>
            <a:ext cx="10972800" cy="530352"/>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858768"/>
            <a:ext cx="4754880" cy="411480"/>
          </a:xfrm>
          <a:prstGeom prst="rect">
            <a:avLst/>
          </a:prstGeom>
          <a:noFill/>
        </p:spPr>
        <p:txBody>
          <a:bodyPr wrap="square">
            <a:spAutoFit/>
          </a:bodyPr>
          <a:lstStyle/>
          <a:p>
            <a:pPr algn="l"/>
            <a:r>
              <a:rPr sz="1300" b="1">
                <a:solidFill>
                  <a:srgbClr val="FFFFFF"/>
                </a:solidFill>
                <a:latin typeface="Calibri"/>
              </a:rPr>
              <a:t>Net benefit to developer</a:t>
            </a:r>
          </a:p>
        </p:txBody>
      </p:sp>
      <p:sp>
        <p:nvSpPr>
          <p:cNvPr id="24" name="TextBox 23"/>
          <p:cNvSpPr txBox="1"/>
          <p:nvPr/>
        </p:nvSpPr>
        <p:spPr>
          <a:xfrm>
            <a:off x="5669280" y="3858768"/>
            <a:ext cx="3017520" cy="411480"/>
          </a:xfrm>
          <a:prstGeom prst="rect">
            <a:avLst/>
          </a:prstGeom>
          <a:noFill/>
        </p:spPr>
        <p:txBody>
          <a:bodyPr wrap="square">
            <a:spAutoFit/>
          </a:bodyPr>
          <a:lstStyle/>
          <a:p>
            <a:pPr algn="l"/>
            <a:r>
              <a:rPr sz="1300" b="0">
                <a:solidFill>
                  <a:srgbClr val="10B981"/>
                </a:solidFill>
                <a:latin typeface="Calibri"/>
              </a:rPr>
              <a:t>$80/mo</a:t>
            </a:r>
          </a:p>
        </p:txBody>
      </p:sp>
      <p:sp>
        <p:nvSpPr>
          <p:cNvPr id="25" name="TextBox 24"/>
          <p:cNvSpPr txBox="1"/>
          <p:nvPr/>
        </p:nvSpPr>
        <p:spPr>
          <a:xfrm>
            <a:off x="8869680" y="3858768"/>
            <a:ext cx="3017520" cy="411480"/>
          </a:xfrm>
          <a:prstGeom prst="rect">
            <a:avLst/>
          </a:prstGeom>
          <a:noFill/>
        </p:spPr>
        <p:txBody>
          <a:bodyPr wrap="square">
            <a:spAutoFit/>
          </a:bodyPr>
          <a:lstStyle/>
          <a:p>
            <a:pPr algn="l"/>
            <a:r>
              <a:rPr sz="1300" b="0">
                <a:solidFill>
                  <a:srgbClr val="10B981"/>
                </a:solidFill>
                <a:latin typeface="Calibri"/>
              </a:rPr>
              <a:t>$80/mo</a:t>
            </a:r>
          </a:p>
        </p:txBody>
      </p:sp>
      <p:sp>
        <p:nvSpPr>
          <p:cNvPr id="26" name="TextBox 25"/>
          <p:cNvSpPr txBox="1"/>
          <p:nvPr/>
        </p:nvSpPr>
        <p:spPr>
          <a:xfrm>
            <a:off x="731520" y="5120640"/>
            <a:ext cx="10515600" cy="594360"/>
          </a:xfrm>
          <a:prstGeom prst="rect">
            <a:avLst/>
          </a:prstGeom>
          <a:noFill/>
        </p:spPr>
        <p:txBody>
          <a:bodyPr wrap="square">
            <a:spAutoFit/>
          </a:bodyPr>
          <a:lstStyle/>
          <a:p>
            <a:pPr algn="l"/>
            <a:r>
              <a:rPr sz="1300" b="0">
                <a:solidFill>
                  <a:srgbClr val="9CA3AF"/>
                </a:solidFill>
                <a:latin typeface="Calibri"/>
              </a:rPr>
              <a:t>The bigger the repo and the less efficient the model, the higher the savings. Codex is the clearest case today.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r>
              <a:rPr sz="3600" b="1">
                <a:solidFill>
                  <a:srgbClr val="FFFFFF"/>
                </a:solidFill>
                <a:latin typeface="Calibri"/>
              </a:rPr>
              <a:t>What We're Building Next</a:t>
            </a:r>
          </a:p>
        </p:txBody>
      </p:sp>
      <p:sp>
        <p:nvSpPr>
          <p:cNvPr id="4" name="Rectangle 3"/>
          <p:cNvSpPr/>
          <p:nvPr/>
        </p:nvSpPr>
        <p:spPr>
          <a:xfrm>
            <a:off x="548640" y="1005840"/>
            <a:ext cx="11064240" cy="12700"/>
          </a:xfrm>
          <a:prstGeom prst="rect">
            <a:avLst/>
          </a:prstGeom>
          <a:solidFill>
            <a:srgbClr val="2D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280160"/>
            <a:ext cx="10881360" cy="14447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280160"/>
            <a:ext cx="54864" cy="14447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89888"/>
            <a:ext cx="10332720" cy="457200"/>
          </a:xfrm>
          <a:prstGeom prst="rect">
            <a:avLst/>
          </a:prstGeom>
          <a:noFill/>
        </p:spPr>
        <p:txBody>
          <a:bodyPr wrap="square">
            <a:spAutoFit/>
          </a:bodyPr>
          <a:lstStyle/>
          <a:p>
            <a:pPr algn="l"/>
            <a:r>
              <a:rPr sz="1600" b="1">
                <a:solidFill>
                  <a:srgbClr val="FFFFFF"/>
                </a:solidFill>
                <a:latin typeface="Calibri"/>
              </a:rPr>
              <a:t>Live Stateful MCP Sessions</a:t>
            </a:r>
          </a:p>
        </p:txBody>
      </p:sp>
      <p:sp>
        <p:nvSpPr>
          <p:cNvPr id="8" name="TextBox 7"/>
          <p:cNvSpPr txBox="1"/>
          <p:nvPr/>
        </p:nvSpPr>
        <p:spPr>
          <a:xfrm>
            <a:off x="822960" y="1810512"/>
            <a:ext cx="10332720" cy="777240"/>
          </a:xfrm>
          <a:prstGeom prst="rect">
            <a:avLst/>
          </a:prstGeom>
          <a:noFill/>
        </p:spPr>
        <p:txBody>
          <a:bodyPr wrap="square">
            <a:spAutoFit/>
          </a:bodyPr>
          <a:lstStyle/>
          <a:p>
            <a:pPr algn="l"/>
            <a:r>
              <a:rPr sz="1300" b="0">
                <a:solidFill>
                  <a:srgbClr val="9CA3AF"/>
                </a:solidFill>
                <a:latin typeface="Calibri"/>
              </a:rPr>
              <a:t>Replace pre-computed prompts with a live agentic loop. The MCP server tracks what the agent already tried and serves different context on retry — ending deterministic dead-loops.</a:t>
            </a:r>
          </a:p>
        </p:txBody>
      </p:sp>
      <p:sp>
        <p:nvSpPr>
          <p:cNvPr id="9" name="Rectangle 8"/>
          <p:cNvSpPr/>
          <p:nvPr/>
        </p:nvSpPr>
        <p:spPr>
          <a:xfrm>
            <a:off x="594360" y="2852928"/>
            <a:ext cx="10881360" cy="14447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852928"/>
            <a:ext cx="54864" cy="14447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962656"/>
            <a:ext cx="10332720" cy="457200"/>
          </a:xfrm>
          <a:prstGeom prst="rect">
            <a:avLst/>
          </a:prstGeom>
          <a:noFill/>
        </p:spPr>
        <p:txBody>
          <a:bodyPr wrap="square">
            <a:spAutoFit/>
          </a:bodyPr>
          <a:lstStyle/>
          <a:p>
            <a:pPr algn="l"/>
            <a:r>
              <a:rPr sz="1600" b="1">
                <a:solidFill>
                  <a:srgbClr val="FFFFFF"/>
                </a:solidFill>
                <a:latin typeface="Calibri"/>
              </a:rPr>
              <a:t>Command Code Integration</a:t>
            </a:r>
          </a:p>
        </p:txBody>
      </p:sp>
      <p:sp>
        <p:nvSpPr>
          <p:cNvPr id="12" name="TextBox 11"/>
          <p:cNvSpPr txBox="1"/>
          <p:nvPr/>
        </p:nvSpPr>
        <p:spPr>
          <a:xfrm>
            <a:off x="822960" y="3383280"/>
            <a:ext cx="10332720" cy="777240"/>
          </a:xfrm>
          <a:prstGeom prst="rect">
            <a:avLst/>
          </a:prstGeom>
          <a:noFill/>
        </p:spPr>
        <p:txBody>
          <a:bodyPr wrap="square">
            <a:spAutoFit/>
          </a:bodyPr>
          <a:lstStyle/>
          <a:p>
            <a:pPr algn="l"/>
            <a:r>
              <a:rPr sz="1300" b="0">
                <a:solidFill>
                  <a:srgbClr val="9CA3AF"/>
                </a:solidFill>
                <a:latin typeface="Calibri"/>
              </a:rPr>
              <a:t>Command Code (v0.31.2, installed) supports MCP via .mcp.json. Adapter built. DeepSeek v4 Pro model — 4x credit efficiency. Benchmark running now.</a:t>
            </a:r>
          </a:p>
        </p:txBody>
      </p:sp>
      <p:sp>
        <p:nvSpPr>
          <p:cNvPr id="13" name="Rectangle 12"/>
          <p:cNvSpPr/>
          <p:nvPr/>
        </p:nvSpPr>
        <p:spPr>
          <a:xfrm>
            <a:off x="594360" y="4425696"/>
            <a:ext cx="10881360" cy="14447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4425696"/>
            <a:ext cx="54864" cy="14447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535424"/>
            <a:ext cx="10332720" cy="457200"/>
          </a:xfrm>
          <a:prstGeom prst="rect">
            <a:avLst/>
          </a:prstGeom>
          <a:noFill/>
        </p:spPr>
        <p:txBody>
          <a:bodyPr wrap="square">
            <a:spAutoFit/>
          </a:bodyPr>
          <a:lstStyle/>
          <a:p>
            <a:pPr algn="l"/>
            <a:r>
              <a:rPr sz="1600" b="1">
                <a:solidFill>
                  <a:srgbClr val="FFFFFF"/>
                </a:solidFill>
                <a:latin typeface="Calibri"/>
              </a:rPr>
              <a:t>6-User Real-World Test</a:t>
            </a:r>
          </a:p>
        </p:txBody>
      </p:sp>
      <p:sp>
        <p:nvSpPr>
          <p:cNvPr id="16" name="TextBox 15"/>
          <p:cNvSpPr txBox="1"/>
          <p:nvPr/>
        </p:nvSpPr>
        <p:spPr>
          <a:xfrm>
            <a:off x="822960" y="4956048"/>
            <a:ext cx="10332720" cy="777240"/>
          </a:xfrm>
          <a:prstGeom prst="rect">
            <a:avLst/>
          </a:prstGeom>
          <a:noFill/>
        </p:spPr>
        <p:txBody>
          <a:bodyPr wrap="square">
            <a:spAutoFit/>
          </a:bodyPr>
          <a:lstStyle/>
          <a:p>
            <a:pPr algn="l"/>
            <a:r>
              <a:rPr sz="1300" b="0">
                <a:solidFill>
                  <a:srgbClr val="9CA3AF"/>
                </a:solidFill>
                <a:latin typeface="Calibri"/>
              </a:rPr>
              <a:t>Three confirmed users, three being selected. Each runs PRMPT on their own live repo for one day. We measure cost, pass rate, and turns — with their consent and a food incentive.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ight-logo-png.png"/>
          <p:cNvPicPr>
            <a:picLocks noChangeAspect="1"/>
          </p:cNvPicPr>
          <p:nvPr/>
        </p:nvPicPr>
        <p:blipFill>
          <a:blip r:embed="rId2"/>
          <a:stretch>
            <a:fillRect/>
          </a:stretch>
        </p:blipFill>
        <p:spPr>
          <a:xfrm>
            <a:off x="9875520" y="320040"/>
            <a:ext cx="1338978" cy="1280160"/>
          </a:xfrm>
          <a:prstGeom prst="rect">
            <a:avLst/>
          </a:prstGeom>
        </p:spPr>
      </p:pic>
      <p:sp>
        <p:nvSpPr>
          <p:cNvPr id="4" name="TextBox 3"/>
          <p:cNvSpPr txBox="1"/>
          <p:nvPr/>
        </p:nvSpPr>
        <p:spPr>
          <a:xfrm>
            <a:off x="731520" y="320040"/>
            <a:ext cx="8229600" cy="594360"/>
          </a:xfrm>
          <a:prstGeom prst="rect">
            <a:avLst/>
          </a:prstGeom>
          <a:noFill/>
        </p:spPr>
        <p:txBody>
          <a:bodyPr wrap="square">
            <a:spAutoFit/>
          </a:bodyPr>
          <a:lstStyle/>
          <a:p>
            <a:pPr algn="l"/>
            <a:r>
              <a:rPr sz="3600" b="1">
                <a:solidFill>
                  <a:srgbClr val="FFFFFF"/>
                </a:solidFill>
                <a:latin typeface="Calibri"/>
              </a:rPr>
              <a:t>The Ask</a:t>
            </a:r>
          </a:p>
        </p:txBody>
      </p:sp>
      <p:sp>
        <p:nvSpPr>
          <p:cNvPr id="5" name="Rectangle 4"/>
          <p:cNvSpPr/>
          <p:nvPr/>
        </p:nvSpPr>
        <p:spPr>
          <a:xfrm>
            <a:off x="548640" y="1005840"/>
            <a:ext cx="11064240" cy="12700"/>
          </a:xfrm>
          <a:prstGeom prst="rect">
            <a:avLst/>
          </a:prstGeom>
          <a:solidFill>
            <a:srgbClr val="2D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515600" cy="502920"/>
          </a:xfrm>
          <a:prstGeom prst="rect">
            <a:avLst/>
          </a:prstGeom>
          <a:noFill/>
        </p:spPr>
        <p:txBody>
          <a:bodyPr wrap="square">
            <a:spAutoFit/>
          </a:bodyPr>
          <a:lstStyle/>
          <a:p>
            <a:pPr algn="l"/>
            <a:r>
              <a:rPr sz="1800" b="0">
                <a:solidFill>
                  <a:srgbClr val="FFFFFF"/>
                </a:solidFill>
                <a:latin typeface="Calibri"/>
              </a:rPr>
              <a:t>We have the measurement. We have the pipeline. We have real savings on Codex.</a:t>
            </a:r>
          </a:p>
        </p:txBody>
      </p:sp>
      <p:sp>
        <p:nvSpPr>
          <p:cNvPr id="7" name="TextBox 6"/>
          <p:cNvSpPr txBox="1"/>
          <p:nvPr/>
        </p:nvSpPr>
        <p:spPr>
          <a:xfrm>
            <a:off x="731520" y="1920240"/>
            <a:ext cx="10515600" cy="502920"/>
          </a:xfrm>
          <a:prstGeom prst="rect">
            <a:avLst/>
          </a:prstGeom>
          <a:noFill/>
        </p:spPr>
        <p:txBody>
          <a:bodyPr wrap="square">
            <a:spAutoFit/>
          </a:bodyPr>
          <a:lstStyle/>
          <a:p>
            <a:pPr algn="l"/>
            <a:r>
              <a:rPr sz="1500" b="0">
                <a:solidFill>
                  <a:srgbClr val="9CA3AF"/>
                </a:solidFill>
                <a:latin typeface="Calibri"/>
              </a:rPr>
              <a:t>What we need next is the user signal to confirm the model holds outside a controlled environment.</a:t>
            </a:r>
          </a:p>
        </p:txBody>
      </p:sp>
      <p:sp>
        <p:nvSpPr>
          <p:cNvPr id="8" name="Rectangle 7"/>
          <p:cNvSpPr/>
          <p:nvPr/>
        </p:nvSpPr>
        <p:spPr>
          <a:xfrm>
            <a:off x="731520" y="2743200"/>
            <a:ext cx="10515600" cy="5303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743200"/>
            <a:ext cx="54864" cy="5303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816352"/>
            <a:ext cx="10058400" cy="384048"/>
          </a:xfrm>
          <a:prstGeom prst="rect">
            <a:avLst/>
          </a:prstGeom>
          <a:noFill/>
        </p:spPr>
        <p:txBody>
          <a:bodyPr wrap="square">
            <a:spAutoFit/>
          </a:bodyPr>
          <a:lstStyle/>
          <a:p>
            <a:pPr algn="l"/>
            <a:r>
              <a:rPr sz="1500" b="0">
                <a:solidFill>
                  <a:srgbClr val="FFFFFF"/>
                </a:solidFill>
                <a:latin typeface="Calibri"/>
              </a:rPr>
              <a:t>6 real users. 1 day. Their own repos.</a:t>
            </a:r>
          </a:p>
        </p:txBody>
      </p:sp>
      <p:sp>
        <p:nvSpPr>
          <p:cNvPr id="11" name="Rectangle 10"/>
          <p:cNvSpPr/>
          <p:nvPr/>
        </p:nvSpPr>
        <p:spPr>
          <a:xfrm>
            <a:off x="731520" y="3401568"/>
            <a:ext cx="10515600" cy="5303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401568"/>
            <a:ext cx="54864" cy="5303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74720"/>
            <a:ext cx="10058400" cy="384048"/>
          </a:xfrm>
          <a:prstGeom prst="rect">
            <a:avLst/>
          </a:prstGeom>
          <a:noFill/>
        </p:spPr>
        <p:txBody>
          <a:bodyPr wrap="square">
            <a:spAutoFit/>
          </a:bodyPr>
          <a:lstStyle/>
          <a:p>
            <a:pPr algn="l"/>
            <a:r>
              <a:rPr sz="1500" b="0">
                <a:solidFill>
                  <a:srgbClr val="FFFFFF"/>
                </a:solidFill>
                <a:latin typeface="Calibri"/>
              </a:rPr>
              <a:t>Measure cost delta, pass rate, turns. No fluff.</a:t>
            </a:r>
          </a:p>
        </p:txBody>
      </p:sp>
      <p:sp>
        <p:nvSpPr>
          <p:cNvPr id="14" name="Rectangle 13"/>
          <p:cNvSpPr/>
          <p:nvPr/>
        </p:nvSpPr>
        <p:spPr>
          <a:xfrm>
            <a:off x="731520" y="4059936"/>
            <a:ext cx="10515600" cy="5303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059936"/>
            <a:ext cx="54864" cy="5303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133088"/>
            <a:ext cx="10058400" cy="384048"/>
          </a:xfrm>
          <a:prstGeom prst="rect">
            <a:avLst/>
          </a:prstGeom>
          <a:noFill/>
        </p:spPr>
        <p:txBody>
          <a:bodyPr wrap="square">
            <a:spAutoFit/>
          </a:bodyPr>
          <a:lstStyle/>
          <a:p>
            <a:pPr algn="l"/>
            <a:r>
              <a:rPr sz="1500" b="0">
                <a:solidFill>
                  <a:srgbClr val="FFFFFF"/>
                </a:solidFill>
                <a:latin typeface="Calibri"/>
              </a:rPr>
              <a:t>If it holds: pricing, GTM, the whole thing.</a:t>
            </a:r>
          </a:p>
        </p:txBody>
      </p:sp>
      <p:sp>
        <p:nvSpPr>
          <p:cNvPr id="17" name="TextBox 16"/>
          <p:cNvSpPr txBox="1"/>
          <p:nvPr/>
        </p:nvSpPr>
        <p:spPr>
          <a:xfrm>
            <a:off x="731520" y="6126480"/>
            <a:ext cx="3657600" cy="365760"/>
          </a:xfrm>
          <a:prstGeom prst="rect">
            <a:avLst/>
          </a:prstGeom>
          <a:noFill/>
        </p:spPr>
        <p:txBody>
          <a:bodyPr wrap="square">
            <a:spAutoFit/>
          </a:bodyPr>
          <a:lstStyle/>
          <a:p>
            <a:pPr algn="l"/>
            <a:r>
              <a:rPr sz="1200" b="0">
                <a:solidFill>
                  <a:srgbClr val="9CA3AF"/>
                </a:solidFill>
                <a:latin typeface="Calibri"/>
              </a:rPr>
              <a:t>github.com/prmpt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